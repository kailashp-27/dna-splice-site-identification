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c459c527c34496" /><Relationship Type="http://schemas.openxmlformats.org/officeDocument/2006/relationships/extended-properties" Target="/docProps/app.xml" Id="R8ce16af82f2142a7" /><Relationship Type="http://schemas.openxmlformats.org/officeDocument/2006/relationships/officeDocument" Target="/ppt/presentation.xml" Id="R4e14e5df183040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551df2585a451f"/>
  </p:sldMasterIdLst>
  <p:notesMasterIdLst>
    <p:notesMasterId xmlns:r="http://schemas.openxmlformats.org/officeDocument/2006/relationships" r:id="R551de1efe2354d98"/>
  </p:notesMasterIdLst>
  <p:sldIdLst>
    <p:sldId xmlns:r="http://schemas.openxmlformats.org/officeDocument/2006/relationships" id="256" r:id="R7a3937165cdc4efe"/>
    <p:sldId xmlns:r="http://schemas.openxmlformats.org/officeDocument/2006/relationships" id="257" r:id="Rc8977c0ad63648ce"/>
    <p:sldId xmlns:r="http://schemas.openxmlformats.org/officeDocument/2006/relationships" id="258" r:id="R05b81f4b34c34bb4"/>
    <p:sldId xmlns:r="http://schemas.openxmlformats.org/officeDocument/2006/relationships" id="259" r:id="Re89d6c3b624b43b5"/>
    <p:sldId xmlns:r="http://schemas.openxmlformats.org/officeDocument/2006/relationships" id="260" r:id="Rdc5f176bf66a4e60"/>
    <p:sldId xmlns:r="http://schemas.openxmlformats.org/officeDocument/2006/relationships" id="261" r:id="Rb0700e3857fd4fbc"/>
    <p:sldId xmlns:r="http://schemas.openxmlformats.org/officeDocument/2006/relationships" id="262" r:id="R961e0dbeff224e45"/>
    <p:sldId xmlns:r="http://schemas.openxmlformats.org/officeDocument/2006/relationships" id="263" r:id="Ree18f598053a49c9"/>
    <p:sldId xmlns:r="http://schemas.openxmlformats.org/officeDocument/2006/relationships" id="264" r:id="R88672afe7edc4eaf"/>
    <p:sldId xmlns:r="http://schemas.openxmlformats.org/officeDocument/2006/relationships" id="265" r:id="R48eb8b22a701454f"/>
    <p:sldId xmlns:r="http://schemas.openxmlformats.org/officeDocument/2006/relationships" id="266" r:id="Rb7ccda9ddfa1434b"/>
    <p:sldId xmlns:r="http://schemas.openxmlformats.org/officeDocument/2006/relationships" id="267" r:id="Rcf9dde95ca5142e2"/>
    <p:sldId xmlns:r="http://schemas.openxmlformats.org/officeDocument/2006/relationships" id="268" r:id="R7cceadcadf9b4b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e88584908b470c" /><Relationship Type="http://schemas.openxmlformats.org/officeDocument/2006/relationships/slideMaster" Target="/ppt/slideMasters/slideMaster1.xml" Id="R9d551df2585a451f" /><Relationship Type="http://schemas.openxmlformats.org/officeDocument/2006/relationships/notesMaster" Target="/ppt/notesMasters/notesMaster1.xml" Id="R551de1efe2354d98" /><Relationship Type="http://schemas.openxmlformats.org/officeDocument/2006/relationships/presProps" Target="/ppt/presProps.xml" Id="Rb5a14affa6134880" /><Relationship Type="http://schemas.openxmlformats.org/officeDocument/2006/relationships/tableStyles" Target="/ppt/tableStyles.xml" Id="R995715a681e541cd" /><Relationship Type="http://schemas.openxmlformats.org/officeDocument/2006/relationships/slide" Target="/ppt/slides/slide1.xml" Id="R7a3937165cdc4efe" /><Relationship Type="http://schemas.openxmlformats.org/officeDocument/2006/relationships/slide" Target="/ppt/slides/slide2.xml" Id="Rc8977c0ad63648ce" /><Relationship Type="http://schemas.openxmlformats.org/officeDocument/2006/relationships/slide" Target="/ppt/slides/slide3.xml" Id="R05b81f4b34c34bb4" /><Relationship Type="http://schemas.openxmlformats.org/officeDocument/2006/relationships/slide" Target="/ppt/slides/slide4.xml" Id="Re89d6c3b624b43b5" /><Relationship Type="http://schemas.openxmlformats.org/officeDocument/2006/relationships/slide" Target="/ppt/slides/slide5.xml" Id="Rdc5f176bf66a4e60" /><Relationship Type="http://schemas.openxmlformats.org/officeDocument/2006/relationships/slide" Target="/ppt/slides/slide6.xml" Id="Rb0700e3857fd4fbc" /><Relationship Type="http://schemas.openxmlformats.org/officeDocument/2006/relationships/slide" Target="/ppt/slides/slide7.xml" Id="R961e0dbeff224e45" /><Relationship Type="http://schemas.openxmlformats.org/officeDocument/2006/relationships/slide" Target="/ppt/slides/slide8.xml" Id="Ree18f598053a49c9" /><Relationship Type="http://schemas.openxmlformats.org/officeDocument/2006/relationships/slide" Target="/ppt/slides/slide9.xml" Id="R88672afe7edc4eaf" /><Relationship Type="http://schemas.openxmlformats.org/officeDocument/2006/relationships/slide" Target="/ppt/slides/slide10.xml" Id="R48eb8b22a701454f" /><Relationship Type="http://schemas.openxmlformats.org/officeDocument/2006/relationships/slide" Target="/ppt/slides/slide11.xml" Id="Rb7ccda9ddfa1434b" /><Relationship Type="http://schemas.openxmlformats.org/officeDocument/2006/relationships/slide" Target="/ppt/slides/slide12.xml" Id="Rcf9dde95ca5142e2" /><Relationship Type="http://schemas.openxmlformats.org/officeDocument/2006/relationships/slide" Target="/ppt/slides/slide13.xml" Id="R7cceadcadf9b4b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bb323d880a4a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da0af088bb4a3e" /><Relationship Type="http://schemas.openxmlformats.org/officeDocument/2006/relationships/notesMaster" Target="/ppt/notesMasters/notesMaster1.xml" Id="R2a2a292539fc40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5d567341d04a31" /><Relationship Type="http://schemas.openxmlformats.org/officeDocument/2006/relationships/notesMaster" Target="/ppt/notesMasters/notesMaster1.xml" Id="Rc3e1eb4c859146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ba195f760247a7" /><Relationship Type="http://schemas.openxmlformats.org/officeDocument/2006/relationships/notesMaster" Target="/ppt/notesMasters/notesMaster1.xml" Id="R726a9a7a8bb045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4312ab7644482b" /><Relationship Type="http://schemas.openxmlformats.org/officeDocument/2006/relationships/notesMaster" Target="/ppt/notesMasters/notesMaster1.xml" Id="R1c8b9f3b1e8e44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aa15f06f4d473a" /><Relationship Type="http://schemas.openxmlformats.org/officeDocument/2006/relationships/notesMaster" Target="/ppt/notesMasters/notesMaster1.xml" Id="Rad5453f82f8742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aa3ecfb4d042e2" /><Relationship Type="http://schemas.openxmlformats.org/officeDocument/2006/relationships/notesMaster" Target="/ppt/notesMasters/notesMaster1.xml" Id="R3d2d1ec8cafc4c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0980c76850450f" /><Relationship Type="http://schemas.openxmlformats.org/officeDocument/2006/relationships/notesMaster" Target="/ppt/notesMasters/notesMaster1.xml" Id="R3303c278aeb447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1405f1cf66412e" /><Relationship Type="http://schemas.openxmlformats.org/officeDocument/2006/relationships/notesMaster" Target="/ppt/notesMasters/notesMaster1.xml" Id="R88d5ac2ce6e646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934468ab444bd6" /><Relationship Type="http://schemas.openxmlformats.org/officeDocument/2006/relationships/notesMaster" Target="/ppt/notesMasters/notesMaster1.xml" Id="Rf3d031cdf02e4e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90d06b102545dc" /><Relationship Type="http://schemas.openxmlformats.org/officeDocument/2006/relationships/notesMaster" Target="/ppt/notesMasters/notesMaster1.xml" Id="R75013f63387243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1fc0c7bcbf47a9" /><Relationship Type="http://schemas.openxmlformats.org/officeDocument/2006/relationships/notesMaster" Target="/ppt/notesMasters/notesMaster1.xml" Id="Re033bb819f8543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80ccd250d54d7a" /><Relationship Type="http://schemas.openxmlformats.org/officeDocument/2006/relationships/notesMaster" Target="/ppt/notesMasters/notesMaster1.xml" Id="R6a16d33101714e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212bf15f7b4660" /><Relationship Type="http://schemas.openxmlformats.org/officeDocument/2006/relationships/notesMaster" Target="/ppt/notesMasters/notesMaster1.xml" Id="R4e33c98e3a1346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EcoSplice predicts possible canonical boundaries from DNA context. It runs locally with React, FastAPI, NumPy and SQLite. This presentation describes the implemented system and its frozen results. Use docs/submission/DEMO_SCRIPT.md for the four-minute live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docs/DATASET_AND_COORDINATES.md and backend/ecosplice/sequence.py. Canonical GT donor and AG acceptor candidates only. Input is supplied in the direction to analyse. Minus-strand bundled demos are already oriented. Donor boundary is before GT and acceptor boundary after AG. Scores require 102 ACGT bases.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backend/ecosplice/local_app.py, api.py, algorithms.py, storage.py, reports.py and frontend/src/useWorkspace.js. One loopback process serves built React and the API. Scientific snapshots persist locally. Training and source downloads are development-only utilities.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data/processed/manifest.json and split_membership.json; https://www.gencodegenes.org/human/release_49.html ; https://hgdownload.soe.ucsc.edu/goldenPath/hg38/chromosomes/ . GENCODE open-access source terms and scientific attribution remain with samples. Seed 20261006. Full groups stay in one partition.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results/model-evaluation.json, results/algorithm-verification.json, models/ecosplice-v1/manifest.json. Frozen development artifacts, not live timings. Detailed logistic regression uses base and adjacent-pair position features. Preliminary uses bases only. Training fits train, validation selects thresholds and routes. Softmax reflects sampled balance. No probability calibration transform was 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results/model-evaluation.json, results/algorithm-verification.json, models/ecosplice-v1/manifest.json. Frozen development artifacts, not live timings. Sources: backend/ecosplice/algorithms.py and docs/MODELS_AND_ALGORITHMS.md. e is all eligible contexts, q eligible canonical contexts and m uncertain canonical contexts. Baseline really evaluates ordinary positions. All use bounded batches.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results/model-evaluation.json, results/algorithm-verification.json, models/ecosplice-v1/manifest.json. Frozen development artifacts, not live timings. Frozen donor decisive range &lt;=0.18 or &gt;=0.52. Acceptor &lt;=0.0775 or &gt;=0.655. Use the applicable final scorer threshold, not the route threshold, for the final decision. Detailed scorer is called only for uncertain contexts.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results/model-evaluation.json, results/algorithm-verification.json, models/ecosplice-v1/manifest.json. Frozen development artifacts, not live timings. Canonical donor domain 7497, support900; acceptor domain7523, support918. Detailed confusion donor TP712 FP171 FN188 TN6426; acceptor TP637 FP221 FN281 TN6384. Rounded display values from full-precision JSON. Adaptive avoids12132/15020 detailed evaluations, 80.77 percent. Donor F1 drop0.0129 exceeds the validation tolerance0.005. No test tuning.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results/model-evaluation.json, results/algorithm-verification.json, models/ecosplice-v1/manifest.json. Frozen development artifacts, not live timings. Five repeats, shuffled method order, one excluded warm-up per method, batch512. Windows11 AMD64 Family25 Model68 Stepping1,16logicalCPUs Python3.12.10 NumPy2.2.6. Runtime excludes startup/HTTP/UI/serialization/SQLite writes. Raw totals and IQR are in source artifact.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results/model-evaluation.json, results/algorithm-verification.json, models/ecosplice-v1/manifest.json. Frozen development artifacts, not live timings. These100000-base inputs are synthetic stress controls without biological truth. Motif-rich eligible49950 and edges50,baseline detailed99899. Estimated energy assumes15W for illustration. Frozen rich medians801.6242,450.3357,204.6002ms. Equal power makes reduction follow runtime.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image: qa/screenshots/part5-help-desktop.png, actual final browser QA on9October2026. The four-step path follows actual input, saved analysis and saved comparison. The interface uses short text and expandable details; its sample link downloads genuine ARVCF DNA.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scripts/setup_local.py, scripts/start_local.py and docs/LOCAL_RELEASE.md. Python3.12 is the tested runtime. Source setup needsNode20.19+ or22.12+,ZIP hasprebuiltfrontendandrequiresnoNode. Internetfor dependency preparation once. Normalinference/labels/history/exportoffline. Occupiedport --port8766.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results/model-evaluation.json, results/algorithm-verification.json, models/ecosplice-v1/manifest.json. Frozen development artifacts, not live timings. Future proposals only: variants,cryptic sites,intron pairing,calibration,broader datasets,quantization,Jetson/NPU,cloudoffload,federatedlearning. Current model canonical sampled chr22, scoresnotprobabilities, annotatednegativesnotproveninactive, homologyindependencenotestablished. UploadedFASTAhasnolabels.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21764e2264d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b4fde493df43e4" /><Relationship Type="http://schemas.openxmlformats.org/officeDocument/2006/relationships/slideLayout" Target="/ppt/slideLayouts/slideLayout1.xml" Id="Rf2347ffec00e45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347ffec00e45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3640f1d334ce6" /><Relationship Type="http://schemas.openxmlformats.org/officeDocument/2006/relationships/notesSlide" Target="/ppt/notesSlides/notesSlide1.xml" Id="R1afbce9327c341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744bb3b3a4033" /><Relationship Type="http://schemas.openxmlformats.org/officeDocument/2006/relationships/notesSlide" Target="/ppt/notesSlides/notesSlide2.xml" Id="R9bb99239490d4e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bc46e23d64e2b" /><Relationship Type="http://schemas.openxmlformats.org/officeDocument/2006/relationships/notesSlide" Target="/ppt/notesSlides/notesSlide3.xml" Id="R3a8a818a094948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dfb27333e44fe" /><Relationship Type="http://schemas.openxmlformats.org/officeDocument/2006/relationships/notesSlide" Target="/ppt/notesSlides/notesSlide4.xml" Id="Rf85e07eea09746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d027a5c1f4424" /><Relationship Type="http://schemas.openxmlformats.org/officeDocument/2006/relationships/notesSlide" Target="/ppt/notesSlides/notesSlide5.xml" Id="R1db9e75a24374a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ddc8ddaf94ad9" /><Relationship Type="http://schemas.openxmlformats.org/officeDocument/2006/relationships/notesSlide" Target="/ppt/notesSlides/notesSlide6.xml" Id="Rbae6db4a97b84a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28710fa934781" /><Relationship Type="http://schemas.openxmlformats.org/officeDocument/2006/relationships/notesSlide" Target="/ppt/notesSlides/notesSlide7.xml" Id="Re0cf8c51b4b747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e1ea261994ddf" /><Relationship Type="http://schemas.openxmlformats.org/officeDocument/2006/relationships/chart" Target="/ppt/slides/charts/chart1.xml" Id="Ra8febb4bc5c24b45" /><Relationship Type="http://schemas.openxmlformats.org/officeDocument/2006/relationships/notesSlide" Target="/ppt/notesSlides/notesSlide8.xml" Id="R6c634429059c4d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1416e6c4d4df3" /><Relationship Type="http://schemas.openxmlformats.org/officeDocument/2006/relationships/chart" Target="/ppt/slides/charts/chart2.xml" Id="R481f2925b8cd4660" /><Relationship Type="http://schemas.openxmlformats.org/officeDocument/2006/relationships/notesSlide" Target="/ppt/notesSlides/notesSlide9.xml" Id="Reb60a2a6fda04e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4dc9096894505" /><Relationship Type="http://schemas.openxmlformats.org/officeDocument/2006/relationships/chart" Target="/ppt/slides/charts/chart3.xml" Id="R588df4959db44c70" /><Relationship Type="http://schemas.openxmlformats.org/officeDocument/2006/relationships/notesSlide" Target="/ppt/notesSlides/notesSlide10.xml" Id="Rea250f35513f46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b390056064563" /><Relationship Type="http://schemas.openxmlformats.org/officeDocument/2006/relationships/image" Target="/ppt/media/image.jpeg" Id="Re773b417fea44a07" /><Relationship Type="http://schemas.openxmlformats.org/officeDocument/2006/relationships/notesSlide" Target="/ppt/notesSlides/notesSlide11.xml" Id="R9581aa12b7944d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beaef01de4abc" /><Relationship Type="http://schemas.openxmlformats.org/officeDocument/2006/relationships/notesSlide" Target="/ppt/notesSlides/notesSlide12.xml" Id="Rf3a4799d97ae46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e349ad7c74005" /><Relationship Type="http://schemas.openxmlformats.org/officeDocument/2006/relationships/notesSlide" Target="/ppt/notesSlides/notesSlide13.xml" Id="Ra29e748026e5418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Detailed</c:v>
          </c:tx>
          <c:spPr>
            <a:solidFill xmlns:a="http://schemas.openxmlformats.org/drawingml/2006/main">
              <a:srgbClr val="236B4D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20382E"/>
                        </a:solidFill>
                        <a:latin typeface="Arial"/>
                        <a:ea typeface="Arial"/>
                        <a:cs typeface="Arial"/>
                      </a:rPr>
                      <a:t>0.799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20382E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20382E"/>
                        </a:solidFill>
                        <a:latin typeface="Arial"/>
                        <a:ea typeface="Arial"/>
                        <a:cs typeface="Arial"/>
                      </a:rPr>
                      <a:t>0.717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20382E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Donor</c:v>
                </c:pt>
                <c:pt idx="1">
                  <c:v>Acceptor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0.799</c:v>
                </c:pt>
                <c:pt idx="1">
                  <c:v>0.717</c:v>
                </c:pt>
              </c:numCache>
            </c:numRef>
          </c:val>
        </c:ser>
        <c:ser>
          <c:idx val="1"/>
          <c:order val="1"/>
          <c:tx>
            <c:v>Adaptive</c:v>
          </c:tx>
          <c:spPr>
            <a:solidFill xmlns:a="http://schemas.openxmlformats.org/drawingml/2006/main">
              <a:srgbClr val="8A79A1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20382E"/>
                        </a:solidFill>
                        <a:latin typeface="Arial"/>
                        <a:ea typeface="Arial"/>
                        <a:cs typeface="Arial"/>
                      </a:rPr>
                      <a:t>0.786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20382E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solidFill>
                          <a:srgbClr val="20382E"/>
                        </a:solidFill>
                        <a:latin typeface="Arial"/>
                        <a:ea typeface="Arial"/>
                        <a:cs typeface="Arial"/>
                      </a:rPr>
                      <a:t>0.724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solidFill>
                        <a:srgbClr val="20382E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Data'!$C$2:$C$3</c:f>
              <c:strCache>
                <c:ptCount val="2"/>
                <c:pt idx="0">
                  <c:v>Donor</c:v>
                </c:pt>
                <c:pt idx="1">
                  <c:v>Acceptor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0.786</c:v>
                </c:pt>
                <c:pt idx="1">
                  <c:v>0.724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0382E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20382E"/>
                    </a:solidFill>
                    <a:latin typeface="Arial"/>
                    <a:ea typeface="Arial"/>
                    <a:cs typeface="Arial"/>
                  </a:rPr>
                  <a:t>F1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0382E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382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Exhaustive</c:v>
          </c:tx>
          <c:spPr>
            <a:solidFill xmlns:a="http://schemas.openxmlformats.org/drawingml/2006/main">
              <a:srgbClr val="236B4D"/>
            </a:solidFill>
          </c:spPr>
          <c:cat>
            <c:strRef>
              <c:f>'Chart Data'!$A$2:$A$5</c:f>
              <c:strCache>
                <c:ptCount val="4"/>
                <c:pt idx="0">
                  <c:v>TBC1D22A</c:v>
                </c:pt>
                <c:pt idx="1">
                  <c:v>NUP50</c:v>
                </c:pt>
                <c:pt idx="2">
                  <c:v>ARVCF</c:v>
                </c:pt>
                <c:pt idx="3">
                  <c:v>SF3A1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11.0921</c:v>
                </c:pt>
                <c:pt idx="1">
                  <c:v>11.9267</c:v>
                </c:pt>
                <c:pt idx="2">
                  <c:v>17.8368</c:v>
                </c:pt>
                <c:pt idx="3">
                  <c:v>18.2243</c:v>
                </c:pt>
              </c:numCache>
            </c:numRef>
          </c:val>
        </c:ser>
        <c:ser>
          <c:idx val="1"/>
          <c:order val="1"/>
          <c:tx>
            <c:v>Filtered</c:v>
          </c:tx>
          <c:spPr>
            <a:solidFill xmlns:a="http://schemas.openxmlformats.org/drawingml/2006/main">
              <a:srgbClr val="75A88A"/>
            </a:solidFill>
          </c:spPr>
          <c:cat>
            <c:strRef>
              <c:f>'Chart Data'!$C$2:$C$5</c:f>
              <c:strCache>
                <c:ptCount val="4"/>
                <c:pt idx="0">
                  <c:v>TBC1D22A</c:v>
                </c:pt>
                <c:pt idx="1">
                  <c:v>NUP50</c:v>
                </c:pt>
                <c:pt idx="2">
                  <c:v>ARVCF</c:v>
                </c:pt>
                <c:pt idx="3">
                  <c:v>SF3A1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2.1353</c:v>
                </c:pt>
                <c:pt idx="1">
                  <c:v>1.955</c:v>
                </c:pt>
                <c:pt idx="2">
                  <c:v>3.1894</c:v>
                </c:pt>
                <c:pt idx="3">
                  <c:v>3.3225</c:v>
                </c:pt>
              </c:numCache>
            </c:numRef>
          </c:val>
        </c:ser>
        <c:ser>
          <c:idx val="2"/>
          <c:order val="2"/>
          <c:tx>
            <c:v>Adaptive</c:v>
          </c:tx>
          <c:spPr>
            <a:solidFill xmlns:a="http://schemas.openxmlformats.org/drawingml/2006/main">
              <a:srgbClr val="8A79A1"/>
            </a:solidFill>
          </c:spPr>
          <c:cat>
            <c:strRef>
              <c:f>'Chart Data'!$E$2:$E$5</c:f>
              <c:strCache>
                <c:ptCount val="4"/>
                <c:pt idx="0">
                  <c:v>TBC1D22A</c:v>
                </c:pt>
                <c:pt idx="1">
                  <c:v>NUP50</c:v>
                </c:pt>
                <c:pt idx="2">
                  <c:v>ARVCF</c:v>
                </c:pt>
                <c:pt idx="3">
                  <c:v>SF3A1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1.2753</c:v>
                </c:pt>
                <c:pt idx="1">
                  <c:v>1.3518</c:v>
                </c:pt>
                <c:pt idx="2">
                  <c:v>2.1429</c:v>
                </c:pt>
                <c:pt idx="3">
                  <c:v>2.0465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0382E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20382E"/>
                    </a:solidFill>
                    <a:latin typeface="Arial"/>
                    <a:ea typeface="Arial"/>
                    <a:cs typeface="Arial"/>
                  </a:rPr>
                  <a:t>Median computation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0382E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382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Exhaustive</c:v>
          </c:tx>
          <c:spPr>
            <a:solidFill xmlns:a="http://schemas.openxmlformats.org/drawingml/2006/main">
              <a:srgbClr val="236B4D"/>
            </a:solidFill>
          </c:spPr>
          <c:cat>
            <c:strRef>
              <c:f>'Chart Data'!$A$2:$A$3</c:f>
              <c:strCache>
                <c:ptCount val="2"/>
                <c:pt idx="0">
                  <c:v>Motif-free control</c:v>
                </c:pt>
                <c:pt idx="1">
                  <c:v>Motif-rich control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704.3629</c:v>
                </c:pt>
                <c:pt idx="1">
                  <c:v>801.6244</c:v>
                </c:pt>
              </c:numCache>
            </c:numRef>
          </c:val>
        </c:ser>
        <c:ser>
          <c:idx val="1"/>
          <c:order val="1"/>
          <c:tx>
            <c:v>Filtered</c:v>
          </c:tx>
          <c:spPr>
            <a:solidFill xmlns:a="http://schemas.openxmlformats.org/drawingml/2006/main">
              <a:srgbClr val="75A88A"/>
            </a:solidFill>
          </c:spPr>
          <c:cat>
            <c:strRef>
              <c:f>'Chart Data'!$C$2:$C$3</c:f>
              <c:strCache>
                <c:ptCount val="2"/>
                <c:pt idx="0">
                  <c:v>Motif-free control</c:v>
                </c:pt>
                <c:pt idx="1">
                  <c:v>Motif-rich control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11.3388</c:v>
                </c:pt>
                <c:pt idx="1">
                  <c:v>450.3355</c:v>
                </c:pt>
              </c:numCache>
            </c:numRef>
          </c:val>
        </c:ser>
        <c:ser>
          <c:idx val="2"/>
          <c:order val="2"/>
          <c:tx>
            <c:v>Adaptive</c:v>
          </c:tx>
          <c:spPr>
            <a:solidFill xmlns:a="http://schemas.openxmlformats.org/drawingml/2006/main">
              <a:srgbClr val="8A79A1"/>
            </a:solidFill>
          </c:spPr>
          <c:cat>
            <c:strRef>
              <c:f>'Chart Data'!$E$2:$E$3</c:f>
              <c:strCache>
                <c:ptCount val="2"/>
                <c:pt idx="0">
                  <c:v>Motif-free control</c:v>
                </c:pt>
                <c:pt idx="1">
                  <c:v>Motif-rich control</c:v>
                </c:pt>
              </c:strCache>
            </c:strRef>
          </c:cat>
          <c:val>
            <c:numRef>
              <c:f>'Chart Data'!$F$2:$F$3</c:f>
              <c:numCache>
                <c:formatCode>0</c:formatCode>
                <c:ptCount val="2"/>
                <c:pt idx="0">
                  <c:v>11.1308</c:v>
                </c:pt>
                <c:pt idx="1">
                  <c:v>204.6002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0382E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20382E"/>
                    </a:solidFill>
                    <a:latin typeface="Arial"/>
                    <a:ea typeface="Arial"/>
                    <a:cs typeface="Arial"/>
                  </a:rPr>
                  <a:t>Median computation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0382E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382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D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18084-28FE-428E-B112-D1E554A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EcoSplice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CE408-83AC-4A9B-A5D3-41DEB598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Local DNA splice boundary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105B5-80EF-4DA4-A3D0-29010FCF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Real predictions and measured algorithm comparisons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C230A-A1CD-4EEA-98B3-C5567374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2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7268"/>
                </a:solidFill>
                <a:latin typeface="Arial"/>
                <a:ea typeface="Arial"/>
                <a:cs typeface="Arial"/>
              </a:rPr>
              <a:t>Final application demonstration     9 October 2026</a:t>
            </a:r>
          </a:p>
        </p:txBody>
      </p:sp>
    </p:spTree>
    <p:extLst>
      <p:ext uri="{BB962C8B-B14F-4D97-AF65-F5344CB8AC3E}">
        <p14:creationId xmlns:p14="http://schemas.microsoft.com/office/powerpoint/2010/main" val="1172284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295CE-1000-4F26-9E34-92490CCD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Input and prediction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BF547-E0B5-4A18-B1DD-0AE74B06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Paste DNA or upload one FASTA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8F6EC-9E2E-4221-8BC6-863E5735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A/C/G/T/N, at least 20 called bases, up to 100,000 bases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AB045-DA99-4493-80BD-DDD9D991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42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14288">
            <a:solidFill>
              <a:srgbClr val="236B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989C7-72D0-42AB-BF8F-62FA5E69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3086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50 bases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51B3A-C109-4C46-9167-B0BDB438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Complete A/C/G/T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40C59-D3CD-4594-9AF2-FF0C30E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342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14288">
            <a:solidFill>
              <a:srgbClr val="236B4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9D8CA-4E0C-4AC1-A0D8-3F7A6773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52775"/>
            <a:ext cx="3086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GT or 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06476-0B25-4BA9-B87E-1809B113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52825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Two-base canonical motif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D7CC5-47FA-48A3-B18C-50EDC24D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0375"/>
            <a:ext cx="342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14288">
            <a:solidFill>
              <a:srgbClr val="236B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AF64E-4438-4EE8-91AC-1BE58D49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52775"/>
            <a:ext cx="3086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50 bases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BFE18-A490-4285-924B-33058352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52825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Complete A/C/G/T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8C52B-BAF1-4C9C-9BF9-1CF0886F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One-based motif starts in the supplied orientation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0DE13-2182-4860-A43B-49ABB864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Incomplete or N-containing contexts remain visible with no score.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D4888-BE8C-43B0-85F1-0D819311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68"/>
                </a:solidFill>
                <a:latin typeface="Arial"/>
                <a:ea typeface="Arial"/>
                <a:cs typeface="Arial"/>
              </a:rPr>
              <a:t>Outputs identify possible boundaries. Complete intron pairing and sequence removal remain outside this version.</a:t>
            </a:r>
          </a:p>
        </p:txBody>
      </p:sp>
    </p:spTree>
    <p:extLst>
      <p:ext uri="{BB962C8B-B14F-4D97-AF65-F5344CB8AC3E}">
        <p14:creationId xmlns:p14="http://schemas.microsoft.com/office/powerpoint/2010/main" val="1698900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0186D-C24E-4DE8-A57F-9D5117F9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Local 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31851-EB04-4F39-BE1C-2F1A38DC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191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14288">
            <a:solidFill>
              <a:srgbClr val="236B4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1214F-7CD0-4E5A-AB49-CA43BA77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33525"/>
            <a:ext cx="3848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React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4E10D-5605-4A52-B831-D375C5E2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3848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DNA input and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8EF65-AD40-4226-862A-E25BD67B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4343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14288">
            <a:solidFill>
              <a:srgbClr val="236B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D160A-0848-4527-A359-533E7FD0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33525"/>
            <a:ext cx="400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FastAPI 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DE431-D1A0-4E33-A2CF-F0705EA4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33575"/>
            <a:ext cx="400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Validation and run APIs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6E5B0-43FF-44D8-9207-29BD808A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95450"/>
            <a:ext cx="15811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6B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D2721-23B0-4DA6-AF7F-E369E427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191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14288">
            <a:solidFill>
              <a:srgbClr val="236B4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01DAB-3CDC-4FB5-AE31-A3085D31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3848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SQLite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38523-B411-46D2-9307-A976B3AD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3848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Saved scientific snapshots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B16DA-F940-436F-AA5F-0E7B5999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4343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14288">
            <a:solidFill>
              <a:srgbClr val="236B4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34654-FF69-4579-8D36-5CC4BDA5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14650"/>
            <a:ext cx="400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Analysis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918B2-B00B-485E-87F1-F434774D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14700"/>
            <a:ext cx="400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Saved models and three methods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A7923-FEA5-4715-BC02-A0FAB047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19350"/>
            <a:ext cx="457200" cy="2952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36B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F635E-B1DF-410E-AE39-1CC6EDD8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4343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14288">
            <a:solidFill>
              <a:srgbClr val="236B4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F9060-FC01-499B-A4C6-887A03D8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33900"/>
            <a:ext cx="400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Shared report renderer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ED379-3AF9-4BF1-A7F9-AAA71C7F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33950"/>
            <a:ext cx="400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CSV, JSON and printable 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C7E8C-3EF0-4D85-9F02-922C42EB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8001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36B4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059DD-78F0-4442-8068-E74754F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0" cy="5905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36B4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DAAAB-9442-49E1-B88A-BFA0552E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9525"/>
            <a:ext cx="1647825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36B4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8A40B-1539-4C6B-BF9F-F1DF275A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62425"/>
            <a:ext cx="15811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6B4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4B25FC-B5EE-4840-B6A4-317BB005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Predictions and measurements save to SQLite.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A2FC1C-2D73-479D-9B32-7DA625C6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68"/>
                </a:solidFill>
                <a:latin typeface="Arial"/>
                <a:ea typeface="Arial"/>
                <a:cs typeface="Arial"/>
              </a:rPr>
              <a:t>One localhost address serves the interface and API. Normal inference uses no cloud service or internet.</a:t>
            </a:r>
          </a:p>
        </p:txBody>
      </p:sp>
    </p:spTree>
    <p:extLst>
      <p:ext uri="{BB962C8B-B14F-4D97-AF65-F5344CB8AC3E}">
        <p14:creationId xmlns:p14="http://schemas.microsoft.com/office/powerpoint/2010/main" val="14034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2A397-AF20-4AFA-B44B-C367B15B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Real data and isolated partitions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16332-E3B5-48B1-BFA0-3E7B5140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GENCODE v49 with GRCh38 primary chromosome 22 DNA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000250"/>
                <a:gridCol w="2000250"/>
                <a:gridCol w="2333625"/>
                <a:gridCol w="2305050"/>
              </a:tblGrid>
              <a:tr h="6429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Donor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Acceptor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Non-site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3,654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3,811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85,766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93,231</a:t>
                      </a:r>
                    </a:p>
                  </a:txBody>
                  <a:tcPr marL="133350" marR="133350" marT="114300" marB="114300" anchor="ctr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858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821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18,474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20,153</a:t>
                      </a:r>
                    </a:p>
                  </a:txBody>
                  <a:tcPr marL="133350" marR="133350" marT="114300" marB="114300" anchor="ctr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900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918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19,401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21,219</a:t>
                      </a:r>
                    </a:p>
                  </a:txBody>
                  <a:tcPr marL="133350" marR="133350" marT="114300" marB="11430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83762-6A9C-4F57-AFA2-06FDAEE3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400 genes form 304 groups and 134,603 unique contexts.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2D109-8FE2-418B-871C-9F759D74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68"/>
                </a:solidFill>
                <a:latin typeface="Arial"/>
                <a:ea typeface="Arial"/>
                <a:cs typeface="Arial"/>
              </a:rPr>
              <a:t>Overlap groups stay in one split. Global deduplication includes reverse complements. Unannotated negatives may include unknown activity.</a:t>
            </a:r>
          </a:p>
        </p:txBody>
      </p:sp>
    </p:spTree>
    <p:extLst>
      <p:ext uri="{BB962C8B-B14F-4D97-AF65-F5344CB8AC3E}">
        <p14:creationId xmlns:p14="http://schemas.microsoft.com/office/powerpoint/2010/main" val="298635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E0A87-FC88-40DA-9937-BAB7B9C5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Saved prediction models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1762125"/>
                <a:gridCol w="3257550"/>
                <a:gridCol w="1809750"/>
                <a:gridCol w="1809750"/>
              </a:tblGrid>
              <a:tr h="730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Scorer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Context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Donor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Acceptor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Preliminary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22 bases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Single bases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0.36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0.31</a:t>
                      </a:r>
                    </a:p>
                  </a:txBody>
                  <a:tcPr marL="133350" marR="133350" marT="114300" marB="114300" anchor="ctr"/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Detailed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102 bases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Bases and pairs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0.41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0.44</a:t>
                      </a:r>
                    </a:p>
                  </a:txBody>
                  <a:tcPr marL="133350" marR="133350" marT="114300" marB="114300" anchor="ctr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9D8B0-E46F-4014-B1B3-5738B996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Thresholds and adaptive settings freeze on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739E3-EE05-49BB-A104-F157E689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Opening EcoSplice loads saved numeric coefficients.</a:t>
            </a:r>
          </a:p>
          <a:p xmlns:a="http://schemas.openxmlformats.org/drawingml/2006/main">
            <a:pPr>
              <a:defRPr sz="210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Training is a separate development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73B59-9731-4BA1-8450-6998CB8D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68"/>
                </a:solidFill>
                <a:latin typeface="Arial"/>
                <a:ea typeface="Arial"/>
                <a:cs typeface="Arial"/>
              </a:rPr>
              <a:t>Scores are model scores under sampled class balance. A score is not an established biological probability.</a:t>
            </a:r>
          </a:p>
        </p:txBody>
      </p:sp>
    </p:spTree>
    <p:extLst>
      <p:ext uri="{BB962C8B-B14F-4D97-AF65-F5344CB8AC3E}">
        <p14:creationId xmlns:p14="http://schemas.microsoft.com/office/powerpoint/2010/main" val="2082946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C3669-36E9-40C6-8BF9-354F0E8F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Three implemented algorithms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810125"/>
                <a:gridCol w="2000250"/>
                <a:gridCol w="2114550"/>
              </a:tblGrid>
              <a:tr h="72628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Processing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Detailed calls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Preliminary calls</a:t>
                      </a:r>
                    </a:p>
                  </a:txBody>
                  <a:tcPr marL="133350" marR="133350" marT="114300" marB="114300" anchor="ctr">
                    <a:solidFill>
                      <a:srgbClr val="EDF5EF"/>
                    </a:solidFill>
                  </a:tcPr>
                </a:tc>
              </a:tr>
              <a:tr h="7262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Exhaustive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Every eligible position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33350" marT="114300" marB="114300" anchor="ctr"/>
                </a:tc>
              </a:tr>
              <a:tr h="7262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Filtered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Eligible GT/AG only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q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33350" marT="114300" marB="114300" anchor="ctr"/>
                </a:tc>
              </a:tr>
              <a:tr h="7262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Adaptive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Cheap first, escalate uncertain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133350" marR="133350" marT="114300" marB="114300"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382E"/>
                          </a:solidFill>
                          <a:latin typeface="Arial"/>
                          <a:ea typeface="Arial"/>
                          <a:cs typeface="Arial"/>
                        </a:rPr>
                        <a:t>q</a:t>
                      </a:r>
                    </a:p>
                  </a:txBody>
                  <a:tcPr marL="133350" marR="133350" marT="114300" marB="114300" anchor="ctr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5CB99-5EF9-40F7-825F-F048A3D9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All three remain O(n) for a fixed context and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93652-38E2-47D7-8C2D-CE5C17F5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Filtering reduces expensive evaluations while preserving canonical results.</a:t>
            </a:r>
          </a:p>
        </p:txBody>
      </p:sp>
    </p:spTree>
    <p:extLst>
      <p:ext uri="{BB962C8B-B14F-4D97-AF65-F5344CB8AC3E}">
        <p14:creationId xmlns:p14="http://schemas.microsoft.com/office/powerpoint/2010/main" val="1928938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D42BA-5241-4336-AF34-E899BE61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Adaptive routing performs less detailed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53A26-5E3C-4B81-A670-46259C3F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04925"/>
            <a:ext cx="4381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14288">
            <a:solidFill>
              <a:srgbClr val="236B4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5A029-B3F1-4548-B5AE-46601629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457325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Eligible canonical candidate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46907-CF30-4B86-8A36-5A6ED706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57375"/>
            <a:ext cx="403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Complete 102-base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4B098-A946-411F-80A4-440039FB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14575"/>
            <a:ext cx="485775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36B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C434A-3458-4535-AB7A-13E4AA8E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4381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14288">
            <a:solidFill>
              <a:srgbClr val="236B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AA4AE-2376-41ED-84C7-8350CEA2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76550"/>
            <a:ext cx="4038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Preliminary scorer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58FCA-7054-4B35-A079-F085658B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76600"/>
            <a:ext cx="403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Reads the central 22 bases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0F3C4-99D1-470A-A810-1FA37F09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385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Decisive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BDC6C-782E-48A1-A97F-9642727A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385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Uncertain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AB311-4036-4DBD-9206-90E22FFE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4914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14288">
            <a:solidFill>
              <a:srgbClr val="236B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20F83-D08E-4533-B4C8-A9604AF9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457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Fast final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D7407-390F-4B53-884A-CE25CA18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Uses preliminary score and threshold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D8C40-8959-4327-B24F-B607322D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4914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14288">
            <a:solidFill>
              <a:srgbClr val="236B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F1305-52F6-47E7-B9F8-FEC46304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91050"/>
            <a:ext cx="457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Detailed final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09823-E9B5-4CED-9648-C4B2DAB3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911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Evaluates the 102-base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CB493-66B9-4781-899B-F4A299D3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68"/>
                </a:solidFill>
                <a:latin typeface="Arial"/>
                <a:ea typeface="Arial"/>
                <a:cs typeface="Arial"/>
              </a:rPr>
              <a:t>The saved result records the actual final scorer and route. Adaptive predictions can differ from the detailed reference.</a:t>
            </a:r>
          </a:p>
        </p:txBody>
      </p:sp>
    </p:spTree>
    <p:extLst>
      <p:ext uri="{BB962C8B-B14F-4D97-AF65-F5344CB8AC3E}">
        <p14:creationId xmlns:p14="http://schemas.microsoft.com/office/powerpoint/2010/main" val="1821961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0BAA4-3750-4E01-8DA4-DDF302C9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Held-out prediction quality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febb4bc5c24b4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33EB8-BC99-4CE9-9C3E-9F2B1785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80.77% fewer detailed test evaluations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B3B10-4126-44B6-9FE8-B2E92E68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68"/>
                </a:solidFill>
                <a:latin typeface="Arial"/>
                <a:ea typeface="Arial"/>
                <a:cs typeface="Arial"/>
              </a:rPr>
              <a:t>Adaptive donor F1 falls from 0.7987 to 0.7858. Acceptor F1 rises from 0.7173 to 0.7238. Sampled chr22 results.</a:t>
            </a:r>
          </a:p>
        </p:txBody>
      </p:sp>
    </p:spTree>
    <p:extLst>
      <p:ext uri="{BB962C8B-B14F-4D97-AF65-F5344CB8AC3E}">
        <p14:creationId xmlns:p14="http://schemas.microsoft.com/office/powerpoint/2010/main" val="881867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8DDB6-67DE-4B16-B471-562DDECA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Measured runtime on real held-out regions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1097280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1f2925b8cd4660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B97A0-8597-4F6A-A375-4BE0FA68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68"/>
                </a:solidFill>
                <a:latin typeface="Arial"/>
                <a:ea typeface="Arial"/>
                <a:cs typeface="Arial"/>
              </a:rPr>
              <a:t>Five fresh repeats per method after warm-up. Same input and settings. Hardware and background load affect timings.</a:t>
            </a:r>
          </a:p>
        </p:txBody>
      </p:sp>
    </p:spTree>
    <p:extLst>
      <p:ext uri="{BB962C8B-B14F-4D97-AF65-F5344CB8AC3E}">
        <p14:creationId xmlns:p14="http://schemas.microsoft.com/office/powerpoint/2010/main" val="12803740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4F4C9-6CFB-431E-9B28-C55FF380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Maximum input and estimated energy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8df4959db44c70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D59AD-29AA-4EB8-99EE-999CA231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Estimated joules = assumed watts × milliseconds / 1000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82C8A-8E96-4394-8A2B-0147D058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68"/>
                </a:solidFill>
                <a:latin typeface="Arial"/>
                <a:ea typeface="Arial"/>
                <a:cs typeface="Arial"/>
              </a:rPr>
              <a:t>100,000-base synthetic inputs have no accuracy labels. The 15 W example gives 12.024 / 6.755 / 3.069 J on motif-rich DNA. Power is assumed.</a:t>
            </a:r>
          </a:p>
        </p:txBody>
      </p:sp>
    </p:spTree>
    <p:extLst>
      <p:ext uri="{BB962C8B-B14F-4D97-AF65-F5344CB8AC3E}">
        <p14:creationId xmlns:p14="http://schemas.microsoft.com/office/powerpoint/2010/main" val="18882053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A884C-4883-4154-838C-873871E3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Guided local dashboard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3b417fea44a07"/>
          <a:stretch xmlns:a="http://schemas.openxmlformats.org/drawingml/2006/main"/>
        </p:blipFill>
        <p:spPr>
          <a:xfrm xmlns:a="http://schemas.openxmlformats.org/drawingml/2006/main">
            <a:off x="609600" y="1816267"/>
            <a:ext cx="7067550" cy="397794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66B66-04E1-4765-8E4B-A331CC66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81150"/>
            <a:ext cx="34575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Analyse and compare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935C2-9EA0-48D7-8882-0451CAEE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381250"/>
            <a:ext cx="34575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Real scores, routes and repeated measurements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72486-8285-4E52-A113-7459460E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62375"/>
            <a:ext cx="34575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Validate and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61162-26AD-4115-ACFA-9B06C696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638675"/>
            <a:ext cx="34575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Held-out metrics and SQLite history with consistent exports</a:t>
            </a:r>
          </a:p>
        </p:txBody>
      </p:sp>
    </p:spTree>
    <p:extLst>
      <p:ext uri="{BB962C8B-B14F-4D97-AF65-F5344CB8AC3E}">
        <p14:creationId xmlns:p14="http://schemas.microsoft.com/office/powerpoint/2010/main" val="15358412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ECA2F-B473-47B1-B778-993102EE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One local launch after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A28FB-5F0F-4514-974B-8E8F9929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One-time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C6BBB-D1E8-4AE3-8692-D1383326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setup-ecosplice.cmd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CA22D-4EA8-4E15-AEBB-82D1B75B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Everyday launch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F9D71-2E01-49D6-82B8-D5789114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start-ecosplice.cmd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009C9-D083-4751-BF35-B6C363D1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Open http://127.0.0.1:8765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F98D3-22B0-42D5-92F7-B8CF88BD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68"/>
                </a:solidFill>
                <a:latin typeface="Arial"/>
                <a:ea typeface="Arial"/>
                <a:cs typeface="Arial"/>
              </a:rPr>
              <a:t>The built frontend and API share one loopback Python process. Saved models, real demos and evaluation ship with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8477891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991F5-E356-47FA-9ACC-F6C14515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82E"/>
                </a:solidFill>
                <a:latin typeface="Arial"/>
                <a:ea typeface="Arial"/>
                <a:cs typeface="Arial"/>
              </a:rPr>
              <a:t>Scientific limits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E3B69-B440-4F2E-AB51-918800C3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Current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BE526-0649-4212-87E1-632570FA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9911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Sampled chromosome 22 data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Canonical GT and AG boundaries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Adaptive quality can change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Energy uses assumed power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A05A7-DEDB-4E85-BF6D-A93DCF2C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6685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36B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36B4D"/>
                </a:solidFill>
                <a:latin typeface="Arial"/>
                <a:ea typeface="Arial"/>
                <a:cs typeface="Arial"/>
              </a:rPr>
              <a:t>Future extensions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CB417-5AA2-46D6-B305-D75658DA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9149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Broader independent evaluation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Calibrated probabilities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Intron pairing and variant effects</a:t>
            </a:r>
          </a:p>
          <a:p xmlns:a="http://schemas.openxmlformats.org/drawingml/2006/main">
            <a:pPr>
              <a:defRPr sz="2175" b="0">
                <a:solidFill>
                  <a:srgbClr val="2038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82E"/>
                </a:solidFill>
                <a:latin typeface="Arial"/>
                <a:ea typeface="Arial"/>
                <a:cs typeface="Arial"/>
              </a:rPr>
              <a:t>Measured power and acceleration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8DF97-B5E9-457F-BBD8-C4EA51BB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2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68"/>
                </a:solidFill>
                <a:latin typeface="Arial"/>
                <a:ea typeface="Arial"/>
                <a:cs typeface="Arial"/>
              </a:rPr>
              <a:t>Uploaded FASTA has no known answers. Results identify possible boundaries and require broader biological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464235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2026-10-09T16:52:22.3810000Z</dcterms:created>
  <dcterms:modified xsi:type="dcterms:W3CDTF">2026-10-09T16:52:22.3810000Z</dcterms:modified>
</coreProperties>
</file>